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-55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(PKR Million)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295C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1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Backyard Mini Fish
Farming for Women</c:v>
                </c:pt>
                <c:pt idx="1">
                  <c:v>Soft Loan Scheme for
Private Farmers</c:v>
                </c:pt>
                <c:pt idx="2">
                  <c:v>Cost-Sharing
Enhancement Scheme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31.6</c:v>
                </c:pt>
                <c:pt idx="1">
                  <c:v>50</c:v>
                </c:pt>
                <c:pt idx="2">
                  <c:v>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0073984"/>
        <c:axId val="200075520"/>
      </c:barChart>
      <c:catAx>
        <c:axId val="200073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A55"/>
                </a:solidFill>
                <a:latin typeface="Arial"/>
              </a:defRPr>
            </a:pPr>
            <a:endParaRPr lang="en-US"/>
          </a:p>
        </c:txPr>
        <c:crossAx val="200075520"/>
        <c:crosses val="autoZero"/>
        <c:auto val="1"/>
        <c:lblAlgn val="ctr"/>
        <c:lblOffset val="100"/>
        <c:noMultiLvlLbl val="1"/>
      </c:catAx>
      <c:valAx>
        <c:axId val="200075520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4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PKR Million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5"/>
                </a:solidFill>
                <a:latin typeface="Arial"/>
              </a:defRPr>
            </a:pPr>
            <a:endParaRPr lang="en-US"/>
          </a:p>
        </c:txPr>
        <c:crossAx val="20007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A4B52-74A1-4369-9307-B6162F39270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56FCCE-BC4D-45FC-8716-C67A245B1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23560"/>
            <a:ext cx="12188952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09160"/>
            <a:ext cx="3291840" cy="1005840"/>
          </a:xfrm>
          <a:prstGeom prst="triangle">
            <a:avLst/>
          </a:prstGeom>
          <a:solidFill>
            <a:srgbClr val="0B4D6E"/>
          </a:solidFill>
          <a:ln/>
        </p:spPr>
      </p:sp>
      <p:sp>
        <p:nvSpPr>
          <p:cNvPr id="5" name="Shape 3"/>
          <p:cNvSpPr/>
          <p:nvPr/>
        </p:nvSpPr>
        <p:spPr>
          <a:xfrm>
            <a:off x="4389120" y="4709160"/>
            <a:ext cx="3291840" cy="1005840"/>
          </a:xfrm>
          <a:prstGeom prst="triangle">
            <a:avLst/>
          </a:prstGeom>
          <a:solidFill>
            <a:srgbClr val="155A78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4709160"/>
            <a:ext cx="3291840" cy="1005840"/>
          </a:xfrm>
          <a:prstGeom prst="triangle">
            <a:avLst/>
          </a:prstGeom>
          <a:solidFill>
            <a:srgbClr val="0B4D6E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6400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_fis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87782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874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COMMUNITY-BASED TROUT FARMING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Strategy for Gilgit-Baltistan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Fisheries Department, Government of Gilgit-Baltistan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98480" y="5989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Trout Farming, Why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holds Pakistan's largest trout waters — but wild stocks are under growing pressure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_mounta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17476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7276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trout waters in Pakistan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90195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Glacier-fed rivers, streams and lakes across GB provide ideal cold, oxygen-rich conditions for trout.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_wat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307348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986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population under stress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322783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Floods, glacial lake outburst floods (GLOFs) and overfishing have reduced wild trout numbers by an estimated 50% over two decades.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_fis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439936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22452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filling the gap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455371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wild catch shrinks, farmed trout has become the fastest-growing supply source and a genuine livelihood opportunity.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772400" y="1600200"/>
            <a:ext cx="3886200" cy="4480560"/>
          </a:xfrm>
          <a:prstGeom prst="roundRect">
            <a:avLst>
              <a:gd name="adj" fmla="val 2824"/>
            </a:avLst>
          </a:prstGeom>
          <a:solidFill>
            <a:srgbClr val="E8F3F8"/>
          </a:solidFill>
          <a:ln/>
        </p:spPr>
      </p:sp>
      <p:sp>
        <p:nvSpPr>
          <p:cNvPr id="17" name="Text 12"/>
          <p:cNvSpPr/>
          <p:nvPr/>
        </p:nvSpPr>
        <p:spPr>
          <a:xfrm>
            <a:off x="800100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TROUT SECTOR TODAY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001000" y="21945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450+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800100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trout farms (up from ~100 a few years ago)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00100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8001000" y="3703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of farmed trout produced annually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001000" y="4206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80-100%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8001000" y="4709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return on investment for established farms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001000" y="5212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8001000" y="5715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decline in wild trout population over 20 years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Sector Statistics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figures reported by the GB Fisheries Department and independent coverage (2026)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8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_fis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29900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Trout farms in GB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264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just over 100 farms within the last few years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DCEAF1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_ch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759" y="205099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t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572000" y="29900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farmed output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0" y="3264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Supplying markets across Islamabad, Lahore, Peshawar &amp; beyond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8F3F8"/>
          </a:solidFill>
          <a:ln/>
        </p:spPr>
      </p:sp>
      <p:sp>
        <p:nvSpPr>
          <p:cNvPr id="17" name="Shape 13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_clipboar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519" y="205099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5,000-6,000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8366760" y="29900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licenses issued/year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366760" y="3264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1,000-1,500 a decade ago, reflecting rising participation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4069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DCEAF1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ic_gra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42843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" y="4892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77240" y="53675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formal support began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77240" y="56418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Fisheries Dept. has provided technical &amp; financial assistance since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343400" y="4069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8F3F8"/>
          </a:solidFill>
          <a:ln/>
        </p:spPr>
      </p:sp>
      <p:sp>
        <p:nvSpPr>
          <p:cNvPr id="29" name="Shape 23"/>
          <p:cNvSpPr/>
          <p:nvPr/>
        </p:nvSpPr>
        <p:spPr>
          <a:xfrm>
            <a:off x="457200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4" descr="ic_coin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2759" y="4428439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572000" y="4892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80-100%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4572000" y="53675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572000" y="56418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by established private farmers, e.g. in Ghizer district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8138160" y="4069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DCEAF1"/>
          </a:solidFill>
          <a:ln/>
        </p:spPr>
      </p:sp>
      <p:sp>
        <p:nvSpPr>
          <p:cNvPr id="35" name="Shape 28"/>
          <p:cNvSpPr/>
          <p:nvPr/>
        </p:nvSpPr>
        <p:spPr>
          <a:xfrm>
            <a:off x="836676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5" descr="ic_wate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7519" y="4428439"/>
            <a:ext cx="241402" cy="24140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366760" y="4892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600" dirty="0"/>
          </a:p>
        </p:txBody>
      </p:sp>
      <p:sp>
        <p:nvSpPr>
          <p:cNvPr id="38" name="Text 30"/>
          <p:cNvSpPr/>
          <p:nvPr/>
        </p:nvSpPr>
        <p:spPr>
          <a:xfrm>
            <a:off x="8366760" y="53675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trout decline (20 yrs)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8366760" y="56418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floods, GLOFs, habitat loss &amp; overfishing — farming fills the gap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GB Fisheries Department officials; Dawn, Express Tribune, Pakistan Today, ProPakistani (2026 reporting)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685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_targ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930" y="89977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91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88720" y="210312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incentive-driven private sector in trout farming, boosting local economies and engaging GB's youth and women.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240280" y="3749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ic_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701" y="39154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4572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88720" y="49377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women &amp; youth into the value chain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852160" y="3749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ic_coin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581" y="391546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00600" y="4572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800600" y="49377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private capital via loans &amp; cost-sharing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9464040" y="3749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ic_cha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0461" y="391546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12480" y="4572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8412480" y="49377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yield of GB's 450+ existing farms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Core Interventions — Proposed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schemes forming the foundation of this strategy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8F3F8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_hom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70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Backyard Mini Fish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Farming for Women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31.6 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Small-scale household units enabling women to farm trout with minimal land, building income at the family level.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065A82"/>
          </a:solidFill>
          <a:ln/>
        </p:spPr>
      </p:sp>
      <p:sp>
        <p:nvSpPr>
          <p:cNvPr id="11" name="Shape 8"/>
          <p:cNvSpPr/>
          <p:nvPr/>
        </p:nvSpPr>
        <p:spPr>
          <a:xfrm>
            <a:off x="5783580" y="2057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_loa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550" y="22713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0632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Loan Scheme for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Fish Farmers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3794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50 M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663440" y="43434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Concessional credit to help private entrepreneurs establish or expand commercial trout farms across GB.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29600" y="173736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8F3F8"/>
          </a:solidFill>
          <a:ln/>
        </p:spPr>
      </p:sp>
      <p:sp>
        <p:nvSpPr>
          <p:cNvPr id="17" name="Shape 13"/>
          <p:cNvSpPr/>
          <p:nvPr/>
        </p:nvSpPr>
        <p:spPr>
          <a:xfrm>
            <a:off x="9624060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_handshak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030" y="227137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30632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Trout Enhancement via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Cost-Sharing Partnership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58200" y="3794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90 M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503920" y="43434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private farmers jointly invest to upgrade infrastructure and productivity of existing farms.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proposed investment: PKR 171.6 Million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Backyard Mini Fish Farming for Women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Budget: PKR 31.6 Million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784080" y="45720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_fema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147" y="7662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women-headed and low-income households with small backyard tanks or ponds, basic fingerlings, feed, and technical training — enabling trout farming without needing large landholdings.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GB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and land constraints limit women's access to commercial farming — a household-scale model removes that barrier.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supplementary income stream and household nutrition source in remote valleys.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pipeline of future micro-entrepreneurs who can graduate into the Soft Loan Scheme.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0" y="1737360"/>
            <a:ext cx="3886200" cy="4297680"/>
          </a:xfrm>
          <a:prstGeom prst="roundRect">
            <a:avLst>
              <a:gd name="adj" fmla="val 2824"/>
            </a:avLst>
          </a:prstGeom>
          <a:solidFill>
            <a:srgbClr val="E8F3F8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ENHANCEMENTS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01000" y="23317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Priority window for widows / single-female-headed households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01000" y="3108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female extension officers to visit farms directly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01000" y="38862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Link to women's cooperatives for shared processing &amp; sale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Soft Loan Scheme for Private Fish Farmers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Cost: PKR 50 Million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784080" y="45720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_loa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147" y="7662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concessional, low-markup loans to private entrepreneurs across GB to establish new commercial trout farms or expand existing ones — addressing the collateral and capital barriers that keep the private sector small.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GB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80-100% reported ROI, credit — not profitability — is the binding constraint for most aspiring farmers.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graduated lending structure (small first loan, larger on repayment) builds a track record while limiting default risk.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grows the number of private farms beyond the current 450+.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0" y="1737360"/>
            <a:ext cx="3886200" cy="4297680"/>
          </a:xfrm>
          <a:prstGeom prst="roundRect">
            <a:avLst>
              <a:gd name="adj" fmla="val 2824"/>
            </a:avLst>
          </a:prstGeom>
          <a:solidFill>
            <a:srgbClr val="E8F3F8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ENHANCEMENTS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01000" y="23317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Matching-grant option for first-time farmers lacking collateral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01000" y="32004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Loan eligibility tied to basic technical training completion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01000" y="40690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Optional farm insurance bundled with the loan to protect against flood/GLOF losses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Trout Enhancement Through Cost-Sharing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Cost: PKR 90 Million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784080" y="45720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_handshak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147" y="7662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existing private farmers jointly fund upgrades — improved raceways, water intake systems, aeration, and quality fingerlings — to raise the productivity of GB's already-established farms.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GB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of the three schemes — reflects that raising output per farm is cheaper than creating entirely new ones.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Cost-sharing ensures farmers are invested in outcomes, improving maintenance and sustainability.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targets flood/GLOF-related infrastructure damage, a recurring cause of farm losses in GB.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0" y="1737360"/>
            <a:ext cx="3886200" cy="4297680"/>
          </a:xfrm>
          <a:prstGeom prst="roundRect">
            <a:avLst>
              <a:gd name="adj" fmla="val 2824"/>
            </a:avLst>
          </a:prstGeom>
          <a:solidFill>
            <a:srgbClr val="E8F3F8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ENHANCEMENTS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01000" y="23317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Organize participating farms into valley-based clusters for shared cold storage &amp; inputs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01000" y="32004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Prioritize farms in flood/GLOF-prone locations for raceway protection works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01000" y="40690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Solar aeration kits for sites with unreliable electricity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Add-On: Strengthen the Value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input costs and capture more value locally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8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_clipboar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21662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Registration &amp; Renewal System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standardized registration form for new trout farms plus an annual/biennial renewal process — giving the Department a live, verified list of active farmers eligible for loans, cost-sharing and extension support.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8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_ta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254" y="21662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88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"GB Trout" Branding &amp; Processing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772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Small-scale smoking/filleting units (run by women's or youth cooperatives) plus a geographic quality brand, so GB trout sells at a premium in Islamabad, Lahore and hospitality markets.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8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_mobi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734" y="21662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788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Market Linkages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5820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digital ordering channel connecting farmers directly with hotels, restaurants and urban buyers — cutting out middlemen and stabilizing farm-gate prices.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Trout Farm Registration &amp; Renewal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standard form fields to formalize GB's 450+ farms into a single record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(NEW FARM)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name, CNIC &amp; contact details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location (village, district, GPS coordinates)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source &amp; type (stream, spring, channel-fed)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&amp; size of ponds / raceways, species farmed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land or water-use right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Fingerling source &amp; stocking 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4652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(EVERY 1-2 YEARS)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205740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farm is still active &amp; operational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production figures (previous cycle)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in ownership, site or capacity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check: water quality, disease status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loan / cost-sharing scheme status, if any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fee payment (nominal, to sustain the registry)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16636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5349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ic_idcar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547999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525780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live registry turns the current 450+ farm estimate into a verified count, and becomes the single eligibility list for the Soft Loan Scheme, Cost-Sharing Scheme and future support.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Fishing &amp; Farming Licenses in GB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licence categories issued by the Fisheries Department, and where farm registration fits alongside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E8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_stam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Fishing Licence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single-day permit for wild trout angling, priced per outing. Used heavily by tourists and casual anglers.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E8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_cal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279" y="20509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745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Fishing Licence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46520" y="251460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for the full open season (March-October); the most common licence type, covering repeat local and visiting anglers.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E8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_idcar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1083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319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Seasonal Licence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" y="457200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per district (e.g. Gilgit, Ghizer) at a fixed seasonal rate — required in addition to, or in place of, a general seasonal licence depending on the conservancy fished.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_filesig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279" y="41083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9319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Registration Certificate (proposed)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46520" y="457200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distinct, non-angling record for commercial and backyard trout farms — proof of legal operation, required to access loans, cost-sharing funds and extension support.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fishing licences (angling wild trout) and farm registration (operating a trout farm) are separate instruments; both are shown here for completeness. Wild trout fishing is banned Oct-Mar during the breeding season.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Add-On: Protect the Investment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GB's flood and GLOF exposure makes risk mitigation essential to scaling farm numbers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8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_shiel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21662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Insurance Scheme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subsidized insurance product for registered farmers, protecting the capital already committed through the loan and cost-sharing schemes against flood/GLOF losses.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065A8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0116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_clipboar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254" y="21662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88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Registry &amp; Monitoring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772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GPS-tagged digital registry of all farms tracking production, water source and loan status — enabling the Department to measure ROI on the 171.6M invested and plan future sites.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8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_wat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734" y="21662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788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&amp; Water Surveillance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5820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community-based fish health workers to catch disease outbreaks and water-quality problems early, reducing losses at the farm level.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Add-On: Youth, Tourism &amp; Institutions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participation and building a lasting sector 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8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_gra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21662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Entrepreneurship Fund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start-up grant/loan combo for graduates and unemployed youth to launch small commercial units, paired with short mandatory technical training.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8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_tourism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254" y="21662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88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Farm-to-Table Tourism Linkage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772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farms along tourist routes (Naltar, Hunza, Skardu) to add small trout eateries or angling experiences, tapping GB's strong tourist footfall.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8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_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734" y="21662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788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Trout Farmers' Association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5820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GB-wide apex body to negotiate input prices, set quality standards, and represent farmers as the sector grows past 450+ farms.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Budget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scheme allocations (PKR Million)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4069080" cy="4297680"/>
          </a:xfrm>
          <a:prstGeom prst="roundRect">
            <a:avLst>
              <a:gd name="adj" fmla="val 2697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PROPOSED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171.6 M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86384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Backyard Women's Farming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33272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3886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Loan Scheme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332720" y="3886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63840" y="4389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Cost-Sharing Enhancement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33272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63840" y="5120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interventions (feed mills, insurance, branding, youth fund, etc.) to be costed at PC-1 stage.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 across the three schemes plus recommended add-ons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8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385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_fis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" y="206928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019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growth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22402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increase beyond the current 450+ registered trout farms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8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19385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_fema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327" y="206928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9019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engaged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212080" y="22402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households reached through backyard units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8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9328" y="19385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_ch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087" y="206928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9019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gain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006840" y="22402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yield per farm through infrastructure &amp; feed improvements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4747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8F3F8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6758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_gra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" y="380664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93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livelihoods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17320" y="39776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entrepreneurship opportunities for GB's graduates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4747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8F3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4568" y="36758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ic_tag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5327" y="380664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36393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capture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212080" y="39776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farm-gate value retained locally via processing &amp; branding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4747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8F3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339328" y="36758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ic_shiel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087" y="3806647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36393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9006840" y="39776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flood/GLOF losses through insurance &amp; site protection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9144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_fis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1521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GB's Trout Economy, Together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2880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Fisheries Department, Government of Gilgit-Baltistan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480560" y="3566160"/>
            <a:ext cx="32004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further discussion and PC-1 development, contact the Fisheries Department, GB.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Fisheries Department  |  Community-Based Trout Farming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1829</Words>
  <Application>Microsoft Office PowerPoint</Application>
  <PresentationFormat>Custom</PresentationFormat>
  <Paragraphs>228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nc</cp:lastModifiedBy>
  <cp:revision>2</cp:revision>
  <dcterms:created xsi:type="dcterms:W3CDTF">2026-08-06T08:14:04Z</dcterms:created>
  <dcterms:modified xsi:type="dcterms:W3CDTF">2026-08-07T07:31:49Z</dcterms:modified>
</cp:coreProperties>
</file>